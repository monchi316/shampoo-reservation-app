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 b="1">
                <a:latin typeface="Yu Gothic"/>
              </a:rPr>
              <a:t>洗車予約システム（社内運用）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600" b="0">
                <a:latin typeface="Yu Gothic"/>
              </a:rPr>
              <a:t>管理者マニュアル（運用・設定・障害対応のたたき台）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この資料の目的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社内の運用担当者が、日々の確認と設定変更を迷わず行えるようにする</a:t>
            </a:r>
          </a:p>
          <a:p>
            <a:pPr/>
            <a:r>
              <a:rPr sz="1800" b="0">
                <a:latin typeface="Yu Gothic"/>
              </a:rPr>
              <a:t>「どこを触ると何が変わるか」を明確にする</a:t>
            </a:r>
          </a:p>
          <a:p>
            <a:pPr/>
            <a:r>
              <a:rPr sz="1800" b="0">
                <a:latin typeface="Yu Gothic"/>
              </a:rPr>
              <a:t>障害時に「まず何を見るか」を揃える</a:t>
            </a:r>
          </a:p>
          <a:p>
            <a:pPr/>
            <a:r>
              <a:rPr sz="1800" b="0">
                <a:latin typeface="Yu Gothic"/>
              </a:rPr>
              <a:t>※ コードの書き方は扱わない（画面と設定中心）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対象者・前提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対象：社内の運用担当、サポート担当、導入担当</a:t>
            </a:r>
          </a:p>
          <a:p>
            <a:pPr/>
            <a:r>
              <a:rPr sz="1800" b="0">
                <a:latin typeface="Yu Gothic"/>
              </a:rPr>
              <a:t>前提：本番URL・管理画面URL・Supabase・LINEの管理権限がある</a:t>
            </a:r>
          </a:p>
          <a:p>
            <a:pPr/>
            <a:r>
              <a:rPr sz="1800" b="0">
                <a:latin typeface="Yu Gothic"/>
              </a:rPr>
              <a:t>現在の構成：LINE（LIFF）＋ Vercel（Web）＋ Supabase（DB/Storage）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Yu Gothic"/>
              </a:rPr>
              <a:t>全体像（役割のイメージ）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latin typeface="Yu Gothic"/>
              </a:rPr>
              <a:t>【LINE】</a:t>
            </a:r>
          </a:p>
          <a:p>
            <a:r>
              <a:rPr sz="1600" b="0">
                <a:latin typeface="Yu Gothic"/>
              </a:rPr>
              <a:t>・ユーザー入口（予約画面を開く）</a:t>
            </a:r>
          </a:p>
          <a:p>
            <a:r>
              <a:rPr sz="1600" b="0">
                <a:latin typeface="Yu Gothic"/>
              </a:rPr>
              <a:t>・通知（予約/変更/キャンセル）</a:t>
            </a:r>
          </a:p>
          <a:p/>
          <a:p>
            <a:r>
              <a:rPr sz="1600" b="0">
                <a:latin typeface="Yu Gothic"/>
              </a:rPr>
              <a:t>【Vercel】</a:t>
            </a:r>
          </a:p>
          <a:p>
            <a:r>
              <a:rPr sz="1600" b="0">
                <a:latin typeface="Yu Gothic"/>
              </a:rPr>
              <a:t>・予約アプリ本体を公開</a:t>
            </a:r>
          </a:p>
          <a:p>
            <a:r>
              <a:rPr sz="1600" b="0">
                <a:latin typeface="Yu Gothic"/>
              </a:rPr>
              <a:t>・サーバーAPI（通知・予約書き込み等）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latin typeface="Yu Gothic"/>
              </a:rPr>
              <a:t>【Supabase】</a:t>
            </a:r>
          </a:p>
          <a:p>
            <a:r>
              <a:rPr sz="1600" b="0">
                <a:latin typeface="Yu Gothic"/>
              </a:rPr>
              <a:t>・予約データ保存</a:t>
            </a:r>
          </a:p>
          <a:p>
            <a:r>
              <a:rPr sz="1600" b="0">
                <a:latin typeface="Yu Gothic"/>
              </a:rPr>
              <a:t>・店舗設定（メニュー/営業時間）</a:t>
            </a:r>
          </a:p>
          <a:p>
            <a:r>
              <a:rPr sz="1600" b="0">
                <a:latin typeface="Yu Gothic"/>
              </a:rPr>
              <a:t>・ロゴ画像（Storage）</a:t>
            </a:r>
          </a:p>
          <a:p/>
          <a:p>
            <a:r>
              <a:rPr sz="1600" b="0">
                <a:latin typeface="Yu Gothic"/>
              </a:rPr>
              <a:t>【tenant_id】</a:t>
            </a:r>
          </a:p>
          <a:p>
            <a:r>
              <a:rPr sz="1600" b="0">
                <a:latin typeface="Yu Gothic"/>
              </a:rPr>
              <a:t>・企業（店舗）単位でデータを分けるID</a:t>
            </a:r>
          </a:p>
          <a:p>
            <a:r>
              <a:rPr sz="1600" b="0">
                <a:latin typeface="Yu Gothic"/>
              </a:rPr>
              <a:t>・現状は既定テナントを利用（将来はログイン連携で切替）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管理者が触る主な画面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管理トップ：/admin</a:t>
            </a:r>
          </a:p>
          <a:p>
            <a:pPr/>
            <a:r>
              <a:rPr sz="1800" b="0">
                <a:latin typeface="Yu Gothic"/>
              </a:rPr>
              <a:t>予約一覧：/admin/reservations</a:t>
            </a:r>
          </a:p>
          <a:p>
            <a:pPr/>
            <a:r>
              <a:rPr sz="1800" b="0">
                <a:latin typeface="Yu Gothic"/>
              </a:rPr>
              <a:t>予約詳細：/admin/reservations/[id]</a:t>
            </a:r>
          </a:p>
          <a:p>
            <a:pPr/>
            <a:r>
              <a:rPr sz="1800" b="0">
                <a:latin typeface="Yu Gothic"/>
              </a:rPr>
              <a:t>売上：/admin/sales</a:t>
            </a:r>
          </a:p>
          <a:p>
            <a:pPr/>
            <a:r>
              <a:rPr sz="1800" b="0">
                <a:latin typeface="Yu Gothic"/>
              </a:rPr>
              <a:t>店舗設定：/admin/settings（ロゴ・メニュー・営業時間・予約枠）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日次チェック（推奨）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予約一覧で「当日・翌日」の件数をざっと確認</a:t>
            </a:r>
          </a:p>
          <a:p>
            <a:pPr/>
            <a:r>
              <a:rPr sz="1800" b="0">
                <a:latin typeface="Yu Gothic"/>
              </a:rPr>
              <a:t>キャンセル・変更が入っていないか（通知トラブルの早期発見）</a:t>
            </a:r>
          </a:p>
          <a:p>
            <a:pPr/>
            <a:r>
              <a:rPr sz="1800" b="0">
                <a:latin typeface="Yu Gothic"/>
              </a:rPr>
              <a:t>予約詳細でステータスが想定どおりか（未対応が滞留していないか）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週次チェック（推奨）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売上画面で完了件数の傾向を確認</a:t>
            </a:r>
          </a:p>
          <a:p>
            <a:pPr/>
            <a:r>
              <a:rPr sz="1800" b="0">
                <a:latin typeface="Yu Gothic"/>
              </a:rPr>
              <a:t>店舗設定の例外日（臨時休業）が翌週分まで入っているか</a:t>
            </a:r>
          </a:p>
          <a:p>
            <a:pPr/>
            <a:r>
              <a:rPr sz="1800" b="0">
                <a:latin typeface="Yu Gothic"/>
              </a:rPr>
              <a:t>メニュー料金の変更予定があれば反映済みか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月次チェック（推奨）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営業時間・平均作業時間・移動時間の見直し（混雑/遅延の実態ベース）</a:t>
            </a:r>
          </a:p>
          <a:p>
            <a:pPr/>
            <a:r>
              <a:rPr sz="1800" b="0">
                <a:latin typeface="Yu Gothic"/>
              </a:rPr>
              <a:t>ロゴ差し替え（キャンペーン・ブランド刷新）</a:t>
            </a:r>
          </a:p>
          <a:p>
            <a:pPr/>
            <a:r>
              <a:rPr sz="1800" b="0">
                <a:latin typeface="Yu Gothic"/>
              </a:rPr>
              <a:t>LINE側の導線（リッチメニュー）文言・リンクの棚卸し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店舗設定：ロゴ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場所：/admin/settings → 店舗ロゴ</a:t>
            </a:r>
          </a:p>
          <a:p>
            <a:pPr/>
            <a:r>
              <a:rPr sz="1800" b="0">
                <a:latin typeface="Yu Gothic"/>
              </a:rPr>
              <a:t>対応形式：png / jpg / webp（目安5MB以下）</a:t>
            </a:r>
          </a:p>
          <a:p>
            <a:pPr/>
            <a:r>
              <a:rPr sz="1800" b="0">
                <a:latin typeface="Yu Gothic"/>
              </a:rPr>
              <a:t>反映先：予約ページ左上（枠内に自動収まる表示）</a:t>
            </a:r>
          </a:p>
          <a:p>
            <a:pPr/>
            <a:r>
              <a:rPr sz="1800" b="0">
                <a:latin typeface="Yu Gothic"/>
              </a:rPr>
              <a:t>トラブル：壊れた画像 → Storage/URL周りを疑う（再アップロード）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店舗設定：メニュー・料金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料金の正はDB（service_menu_items）</a:t>
            </a:r>
          </a:p>
          <a:p>
            <a:pPr/>
            <a:r>
              <a:rPr sz="1800" b="0">
                <a:latin typeface="Yu Gothic"/>
              </a:rPr>
              <a:t>S/M/L・内装は slug（size_s 等）で予約画面と連動</a:t>
            </a:r>
          </a:p>
          <a:p>
            <a:pPr/>
            <a:r>
              <a:rPr sz="1800" b="0">
                <a:latin typeface="Yu Gothic"/>
              </a:rPr>
              <a:t>追加メニューは行を足せるが、予約合計に載せるには画面側対応が別途必要</a:t>
            </a:r>
          </a:p>
          <a:p>
            <a:pPr/>
            <a:r>
              <a:rPr sz="1800" b="0">
                <a:latin typeface="Yu Gothic"/>
              </a:rPr>
              <a:t>保存後、予約画面をリロードして表示確認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店舗設定：営業時間（基本）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モード：全日同一 / 曜日別</a:t>
            </a:r>
          </a:p>
          <a:p>
            <a:pPr/>
            <a:r>
              <a:rPr sz="1800" b="0">
                <a:latin typeface="Yu Gothic"/>
              </a:rPr>
              <a:t>例外日：臨時休業・その日だけの営業時間</a:t>
            </a:r>
          </a:p>
          <a:p>
            <a:pPr/>
            <a:r>
              <a:rPr sz="1800" b="0">
                <a:latin typeface="Yu Gothic"/>
              </a:rPr>
              <a:t>保存忘れに注意（保存ボタンは営業・予約設定セクション）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店舗設定：予約枠の意味（重要）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1台あたり平均作業時間 × 台数 = 占有時間</a:t>
            </a:r>
          </a:p>
          <a:p>
            <a:pPr/>
            <a:r>
              <a:rPr sz="1800" b="0">
                <a:latin typeface="Yu Gothic"/>
              </a:rPr>
              <a:t>平均移動時間 = 前後の予約との間に空けるバッファ</a:t>
            </a:r>
          </a:p>
          <a:p>
            <a:pPr/>
            <a:r>
              <a:rPr sz="1800" b="0">
                <a:latin typeface="Yu Gothic"/>
              </a:rPr>
              <a:t>「営業時間内」でも、終了が閉店を超えると不可になる</a:t>
            </a:r>
          </a:p>
          <a:p>
            <a:pPr/>
            <a:r>
              <a:rPr sz="1800" b="0">
                <a:latin typeface="Yu Gothic"/>
              </a:rPr>
              <a:t>変更時はユーザーへ周知（特に作業時間を伸ばした場合）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予約一覧の見方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日付・ステータスで絞り込み</a:t>
            </a:r>
          </a:p>
          <a:p>
            <a:pPr/>
            <a:r>
              <a:rPr sz="1800" b="0">
                <a:latin typeface="Yu Gothic"/>
              </a:rPr>
              <a:t>同一グループ（複数台）は group_id でまとまる想定</a:t>
            </a:r>
          </a:p>
          <a:p>
            <a:pPr/>
            <a:r>
              <a:rPr sz="1800" b="0">
                <a:latin typeface="Yu Gothic"/>
              </a:rPr>
              <a:t>詳細へ進んで金額提案・メモ・担当者名などを更新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予約詳細でよくやる操作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ステータス更新（確認済/完了/キャンセル等）</a:t>
            </a:r>
          </a:p>
          <a:p>
            <a:pPr/>
            <a:r>
              <a:rPr sz="1800" b="0">
                <a:latin typeface="Yu Gothic"/>
              </a:rPr>
              <a:t>売上金額の入力（複数台は行ごと）</a:t>
            </a:r>
          </a:p>
          <a:p>
            <a:pPr/>
            <a:r>
              <a:rPr sz="1800" b="0">
                <a:latin typeface="Yu Gothic"/>
              </a:rPr>
              <a:t>メモ・スタッフ名・作業完了日時の記録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売上画面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完了ステータスを集計して参照する想定</a:t>
            </a:r>
          </a:p>
          <a:p>
            <a:pPr/>
            <a:r>
              <a:rPr sz="1800" b="0">
                <a:latin typeface="Yu Gothic"/>
              </a:rPr>
              <a:t>数字が合わない場合は「ステータス定義」と「対象期間」を先に確認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ユーザー向けURL（社内周知テンプレ）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予約：本番の /reserve（LIFFから開くのが基本）</a:t>
            </a:r>
          </a:p>
          <a:p>
            <a:pPr/>
            <a:r>
              <a:rPr sz="1800" b="0">
                <a:latin typeface="Yu Gothic"/>
              </a:rPr>
              <a:t>変更・キャンセル：LINE通知に付くURL（id / groupId 付き）</a:t>
            </a:r>
          </a:p>
          <a:p>
            <a:pPr/>
            <a:r>
              <a:rPr sz="1800" b="0">
                <a:latin typeface="Yu Gothic"/>
              </a:rPr>
              <a:t>※ URLを社外に転送されると閲覧リスクがある点を理解して運用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tenant_id / 環境変数（社内メモ）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NEXT_PUBLIC_DEFAULT_TENANT_ID：既定の店舗ID（本番でズレるとデータが見えない）</a:t>
            </a:r>
          </a:p>
          <a:p>
            <a:pPr/>
            <a:r>
              <a:rPr sz="1800" b="0">
                <a:latin typeface="Yu Gothic"/>
              </a:rPr>
              <a:t>Supabase の service_role はサーバーのみ（漏洩厳禁）</a:t>
            </a:r>
          </a:p>
          <a:p>
            <a:pPr/>
            <a:r>
              <a:rPr sz="1800" b="0">
                <a:latin typeface="Yu Gothic"/>
              </a:rPr>
              <a:t>LINE_CHANNEL_ACCESS_TOKEN：通知が止まるとまず疑う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障害対応：予約できない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まず予約画面でアラート文言を確認（営業外/重複/設定なし）</a:t>
            </a:r>
          </a:p>
          <a:p>
            <a:pPr/>
            <a:r>
              <a:rPr sz="1800" b="0">
                <a:latin typeface="Yu Gothic"/>
              </a:rPr>
              <a:t>店舗設定の営業時間・例外日・作業/移動時間を確認</a:t>
            </a:r>
          </a:p>
          <a:p>
            <a:pPr/>
            <a:r>
              <a:rPr sz="1800" b="0">
                <a:latin typeface="Yu Gothic"/>
              </a:rPr>
              <a:t>API 500 の場合は Vercel ログと Supabase 側エラーをエスカレーション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障害対応：LINE通知が来ない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LINE_CHANNEL_ACCESS_TOKEN（本番環境変数）</a:t>
            </a:r>
          </a:p>
          <a:p>
            <a:pPr/>
            <a:r>
              <a:rPr sz="1800" b="0">
                <a:latin typeface="Yu Gothic"/>
              </a:rPr>
              <a:t>ユーザーID（LINE user id）が取れているか</a:t>
            </a:r>
          </a:p>
          <a:p>
            <a:pPr/>
            <a:r>
              <a:rPr sz="1800" b="0">
                <a:latin typeface="Yu Gothic"/>
              </a:rPr>
              <a:t>キャンセル/予約APIのレスポンスが成功か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障害対応：画像（ロゴ）が壊れる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再アップロード</a:t>
            </a:r>
          </a:p>
          <a:p>
            <a:pPr/>
            <a:r>
              <a:rPr sz="1800" b="0">
                <a:latin typeface="Yu Gothic"/>
              </a:rPr>
              <a:t>Storage bucket（tenant-logos）とDBの logo_path</a:t>
            </a:r>
          </a:p>
          <a:p>
            <a:pPr/>
            <a:r>
              <a:rPr sz="1800" b="0">
                <a:latin typeface="Yu Gothic"/>
              </a:rPr>
              <a:t>署名付きURLの期限切れを疑う場合は再読み込みで更新されるか確認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障害対応：DB/権限（RLS）系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ブラウザ直叩きで弾かれる場合はRLSやAPI経由の設計差を疑う</a:t>
            </a:r>
          </a:p>
          <a:p>
            <a:pPr/>
            <a:r>
              <a:rPr sz="1800" b="0">
                <a:latin typeface="Yu Gothic"/>
              </a:rPr>
              <a:t>エラーコード 42501 は権限（RLS）が典型</a:t>
            </a:r>
          </a:p>
          <a:p>
            <a:pPr/>
            <a:r>
              <a:rPr sz="1800" b="0">
                <a:latin typeface="Yu Gothic"/>
              </a:rPr>
              <a:t>最終的にシステム担当へ（ポリシー/ルートの見直し）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800" b="1">
                <a:latin typeface="Yu Gothic"/>
              </a:rPr>
              <a:t>エスカレーションフロー（例）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18872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latin typeface="Yu Gothic"/>
              </a:rPr>
              <a:t>【レベル1：運用】</a:t>
            </a:r>
          </a:p>
          <a:p>
            <a:r>
              <a:rPr sz="1600" b="0">
                <a:latin typeface="Yu Gothic"/>
              </a:rPr>
              <a:t>・設定誤りの修正</a:t>
            </a:r>
          </a:p>
          <a:p>
            <a:r>
              <a:rPr sz="1600" b="0">
                <a:latin typeface="Yu Gothic"/>
              </a:rPr>
              <a:t>・再現手順のメモ</a:t>
            </a:r>
          </a:p>
          <a:p>
            <a:r>
              <a:rPr sz="1600" b="0">
                <a:latin typeface="Yu Gothic"/>
              </a:rPr>
              <a:t>・スクリーンショット取得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0" y="1188720"/>
            <a:ext cx="4114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latin typeface="Yu Gothic"/>
              </a:rPr>
              <a:t>【レベル2：システム】</a:t>
            </a:r>
          </a:p>
          <a:p>
            <a:r>
              <a:rPr sz="1600" b="0">
                <a:latin typeface="Yu Gothic"/>
              </a:rPr>
              <a:t>・環境変数/デプロイ</a:t>
            </a:r>
          </a:p>
          <a:p>
            <a:r>
              <a:rPr sz="1600" b="0">
                <a:latin typeface="Yu Gothic"/>
              </a:rPr>
              <a:t>・Supabase SQL/Storage</a:t>
            </a:r>
          </a:p>
          <a:p>
            <a:r>
              <a:rPr sz="1600" b="0">
                <a:latin typeface="Yu Gothic"/>
              </a:rPr>
              <a:t>・LINE Developers設定</a:t>
            </a:r>
          </a:p>
          <a:p/>
          <a:p>
            <a:r>
              <a:rPr sz="1600" b="0">
                <a:latin typeface="Yu Gothic"/>
              </a:rPr>
              <a:t>【連絡時に添える情報】</a:t>
            </a:r>
          </a:p>
          <a:p>
            <a:r>
              <a:rPr sz="1600" b="0">
                <a:latin typeface="Yu Gothic"/>
              </a:rPr>
              <a:t>時刻、URL、ユーザーID、予約ID、画面録画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セキュリティ運用上の注意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管理画面は現状ガードが弱い前提でURLの取り扱いに注意</a:t>
            </a:r>
          </a:p>
          <a:p>
            <a:pPr/>
            <a:r>
              <a:rPr sz="1800" b="0">
                <a:latin typeface="Yu Gothic"/>
              </a:rPr>
              <a:t>service_role キーをチャットに貼らない</a:t>
            </a:r>
          </a:p>
          <a:p>
            <a:pPr/>
            <a:r>
              <a:rPr sz="1800" b="0">
                <a:latin typeface="Yu Gothic"/>
              </a:rPr>
              <a:t>権限最小化（社内でも閲覧者/編集者を分ける）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2800" b="1">
                <a:latin typeface="Yu Gothic"/>
              </a:rPr>
              <a:t>改定・配布のしかた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1800" b="0">
                <a:latin typeface="Yu Gothic"/>
              </a:rPr>
              <a:t>改定履歴（日付・変更者・要点）を表紙裏または最終スライドに残す</a:t>
            </a:r>
          </a:p>
          <a:p>
            <a:pPr/>
            <a:r>
              <a:rPr sz="1800" b="0">
                <a:latin typeface="Yu Gothic"/>
              </a:rPr>
              <a:t>社内ポータルに最新版を1つに集約</a:t>
            </a:r>
          </a:p>
          <a:p>
            <a:pPr/>
            <a:r>
              <a:rPr sz="1800" b="0">
                <a:latin typeface="Yu Gothic"/>
              </a:rPr>
              <a:t>対外向け資料とは分ける（この資料は社内運用寄り）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